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RyRro5V9AW3x6F7/LNqnvxcVG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A08FF1-1B94-4A7C-8F97-2C97D09D5229}">
  <a:tblStyle styleId="{80A08FF1-1B94-4A7C-8F97-2C97D09D522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6d8435669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f6d8435669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f6d8435669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6d8435669_1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f6d8435669_1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f6d8435669_1_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6d8435669_1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f6d8435669_1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f6d8435669_1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6d8435669_1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f6d8435669_1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f6d8435669_1_1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6d8435669_1_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f6d8435669_1_1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f6d8435669_1_1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6d8435669_1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f6d8435669_1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f6d8435669_1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6d8435669_1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f6d8435669_1_1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f6d8435669_1_1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6d8435669_1_1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f6d8435669_1_1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f6d8435669_1_1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6d8435669_1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g3f6d8435669_1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f6d8435669_1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32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366760" y="91440"/>
            <a:ext cx="3291840" cy="329184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B132B">
              <a:alpha val="0"/>
            </a:srgbClr>
          </a:solidFill>
          <a:ln cap="flat" cmpd="sng" w="25400">
            <a:solidFill>
              <a:srgbClr val="2DD4B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9189720" y="777240"/>
            <a:ext cx="2194560" cy="219456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B132B">
              <a:alpha val="0"/>
            </a:srgbClr>
          </a:solidFill>
          <a:ln cap="flat" cmpd="sng" w="25400">
            <a:solidFill>
              <a:srgbClr val="E11D48">
                <a:alpha val="5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58368" y="960120"/>
            <a:ext cx="8595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Cross-Cutting Exposure as an Engine of Radicalization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85800" y="2395728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Platform design, attention, and geography in a stochastic multiplex model of opinion dynamics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" name="Google Shape;20;p1"/>
          <p:cNvCxnSpPr/>
          <p:nvPr/>
        </p:nvCxnSpPr>
        <p:spPr>
          <a:xfrm>
            <a:off x="685800" y="3200400"/>
            <a:ext cx="4754880" cy="0"/>
          </a:xfrm>
          <a:prstGeom prst="straightConnector1">
            <a:avLst/>
          </a:prstGeom>
          <a:noFill/>
          <a:ln cap="flat" cmpd="sng" w="254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1"/>
          <p:cNvSpPr/>
          <p:nvPr/>
        </p:nvSpPr>
        <p:spPr>
          <a:xfrm>
            <a:off x="685800" y="342900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Ruben E. Araújo · August 2026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446520" y="3035808"/>
            <a:ext cx="5166360" cy="1874520"/>
          </a:xfrm>
          <a:prstGeom prst="roundRect">
            <a:avLst>
              <a:gd fmla="val 292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685800" y="5166360"/>
            <a:ext cx="10241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with repulsive influence, uncurated exposure can polarize more than homophilic curation.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2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825" y="2753150"/>
            <a:ext cx="5371775" cy="24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30352" y="6473952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MOTIVATION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583680" y="6473952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Cross-cutting exposure as an engine of radicalization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30352" y="310896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Why revisit cross-cutting exposure?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57784" y="832104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Echo chambers are a natural diagnosis - but the intervention record is mixed.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" name="Google Shape;35;p2"/>
          <p:cNvCxnSpPr/>
          <p:nvPr/>
        </p:nvCxnSpPr>
        <p:spPr>
          <a:xfrm>
            <a:off x="530352" y="117043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2"/>
          <p:cNvSpPr/>
          <p:nvPr/>
        </p:nvSpPr>
        <p:spPr>
          <a:xfrm>
            <a:off x="658368" y="1463040"/>
            <a:ext cx="73152" cy="237744"/>
          </a:xfrm>
          <a:prstGeom prst="rect">
            <a:avLst/>
          </a:prstGeom>
          <a:solidFill>
            <a:srgbClr val="E11D48"/>
          </a:solidFill>
          <a:ln cap="flat" cmpd="sng" w="12700">
            <a:solidFill>
              <a:srgbClr val="E11D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822960" y="141732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Social motivation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49808" y="1810512"/>
            <a:ext cx="525780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The standard story: algorithms hide disagreement, creating echo chambers and polarization.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The intuitive remedy: expose people to the other side.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But field experiments show heterogeneous effects: cross-cutting exposure can reduce, leave unchanged, or increase polarization.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58368" y="4114800"/>
            <a:ext cx="73152" cy="23774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822960" y="406908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Physics motivation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49808" y="4434840"/>
            <a:ext cx="52578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Local interactions generate fragmented bounded-confidence clusters.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Digital platforms create adaptive long-range exposure, but attention is finite.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The key question is kinetic: which exposure profiles activate repulsion, and how fast?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" name="Google Shape;42;p2"/>
          <p:cNvCxnSpPr/>
          <p:nvPr/>
        </p:nvCxnSpPr>
        <p:spPr>
          <a:xfrm>
            <a:off x="6400800" y="1828800"/>
            <a:ext cx="4480560" cy="0"/>
          </a:xfrm>
          <a:prstGeom prst="straightConnector1">
            <a:avLst/>
          </a:prstGeom>
          <a:noFill/>
          <a:ln cap="flat" cmpd="sng" w="25400">
            <a:solidFill>
              <a:srgbClr val="D8DEE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" name="Google Shape;43;p2"/>
          <p:cNvCxnSpPr/>
          <p:nvPr/>
        </p:nvCxnSpPr>
        <p:spPr>
          <a:xfrm>
            <a:off x="6400800" y="3840480"/>
            <a:ext cx="4480560" cy="0"/>
          </a:xfrm>
          <a:prstGeom prst="straightConnector1">
            <a:avLst/>
          </a:prstGeom>
          <a:noFill/>
          <a:ln cap="flat" cmpd="sng" w="25400">
            <a:solidFill>
              <a:srgbClr val="D8DEE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" name="Google Shape;44;p2"/>
          <p:cNvSpPr/>
          <p:nvPr/>
        </p:nvSpPr>
        <p:spPr>
          <a:xfrm>
            <a:off x="6172200" y="1234440"/>
            <a:ext cx="2011680" cy="1051560"/>
          </a:xfrm>
          <a:prstGeom prst="roundRect">
            <a:avLst>
              <a:gd fmla="val 6957" name="adj"/>
            </a:avLst>
          </a:prstGeom>
          <a:solidFill>
            <a:srgbClr val="EEF2FF"/>
          </a:solidFill>
          <a:ln cap="flat" cmpd="sng" w="12700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336792" y="1344168"/>
            <a:ext cx="1682496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Echo-chamber hypothesis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“too little disagreement”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8549640" y="1234440"/>
            <a:ext cx="2331720" cy="1051560"/>
          </a:xfrm>
          <a:prstGeom prst="roundRect">
            <a:avLst>
              <a:gd fmla="val 6957" name="adj"/>
            </a:avLst>
          </a:prstGeom>
          <a:solidFill>
            <a:srgbClr val="FFF7ED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8714232" y="1344168"/>
            <a:ext cx="2002536" cy="83210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Intervention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more cross-cutting exposure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629400" y="3246120"/>
            <a:ext cx="3840480" cy="1325880"/>
          </a:xfrm>
          <a:prstGeom prst="roundRect">
            <a:avLst>
              <a:gd fmla="val 5517" name="adj"/>
            </a:avLst>
          </a:prstGeom>
          <a:solidFill>
            <a:srgbClr val="F0FDFA"/>
          </a:solidFill>
          <a:ln cap="flat" cmpd="sng" w="12700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6793992" y="3355848"/>
            <a:ext cx="3511296" cy="1106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Open problem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when does exposure heal vs. polarize?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400800" y="5074920"/>
            <a:ext cx="4480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This work asks for a mechanism, not just a direction of effect.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530352" y="6473952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CONTRIBUTION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583680" y="6473952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Cross-cutting exposure as an engine of radicalization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30352" y="310896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Main contribution: a kinetic theory of platform exposure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57784" y="832104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novelty is not that exposure can backfire, but that platform design can be mapped to a radicalization timescale.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" name="Google Shape;61;p3"/>
          <p:cNvCxnSpPr/>
          <p:nvPr/>
        </p:nvCxnSpPr>
        <p:spPr>
          <a:xfrm>
            <a:off x="530352" y="117043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3"/>
          <p:cNvSpPr/>
          <p:nvPr/>
        </p:nvSpPr>
        <p:spPr>
          <a:xfrm>
            <a:off x="685800" y="1527048"/>
            <a:ext cx="384048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188720" y="1508760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Conserved attention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1188720" y="1828800"/>
            <a:ext cx="4343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70"/>
              <a:buFont typeface="Arial"/>
              <a:buNone/>
            </a:pPr>
            <a:r>
              <a:rPr b="0" i="0" lang="en-US" sz="107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Digital exposure displaces physical interaction instead of adding a new force on top.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85800" y="2898648"/>
            <a:ext cx="384048" cy="38404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188720" y="2880360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Repulsive-zone exposure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88720" y="3200400"/>
            <a:ext cx="4343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70"/>
              <a:buFont typeface="Arial"/>
              <a:buNone/>
            </a:pPr>
            <a:r>
              <a:rPr b="0" i="0" lang="en-US" sz="107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 platform kernel E(Δ) determines how often agents see content far enough away to trigger repulsion.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85800" y="4270248"/>
            <a:ext cx="384048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1188720" y="4251960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Timescale, not threshold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188720" y="4572000"/>
            <a:ext cx="4343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70"/>
              <a:buFont typeface="Arial"/>
              <a:buNone/>
            </a:pPr>
            <a:r>
              <a:rPr b="0" i="0" lang="en-US" sz="107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After bounded-confidence fragmentation forms, any nonzero cross-bloc exposure creates outward drift in the two-bloc reduction.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6126480" y="1965960"/>
            <a:ext cx="4937760" cy="0"/>
          </a:xfrm>
          <a:prstGeom prst="straightConnector1">
            <a:avLst/>
          </a:prstGeom>
          <a:noFill/>
          <a:ln cap="flat" cmpd="sng" w="25400">
            <a:solidFill>
              <a:srgbClr val="64748B">
                <a:alpha val="65098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2" name="Google Shape;72;p3"/>
          <p:cNvCxnSpPr/>
          <p:nvPr/>
        </p:nvCxnSpPr>
        <p:spPr>
          <a:xfrm>
            <a:off x="6126480" y="3108960"/>
            <a:ext cx="4937760" cy="0"/>
          </a:xfrm>
          <a:prstGeom prst="straightConnector1">
            <a:avLst/>
          </a:prstGeom>
          <a:noFill/>
          <a:ln cap="flat" cmpd="sng" w="25400">
            <a:solidFill>
              <a:srgbClr val="64748B">
                <a:alpha val="65098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3" name="Google Shape;73;p3"/>
          <p:cNvCxnSpPr/>
          <p:nvPr/>
        </p:nvCxnSpPr>
        <p:spPr>
          <a:xfrm>
            <a:off x="6126480" y="4251960"/>
            <a:ext cx="4937760" cy="0"/>
          </a:xfrm>
          <a:prstGeom prst="straightConnector1">
            <a:avLst/>
          </a:prstGeom>
          <a:noFill/>
          <a:ln cap="flat" cmpd="sng" w="25400">
            <a:solidFill>
              <a:srgbClr val="64748B">
                <a:alpha val="65098"/>
              </a:srgbClr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" name="Google Shape;74;p3"/>
          <p:cNvSpPr/>
          <p:nvPr/>
        </p:nvSpPr>
        <p:spPr>
          <a:xfrm>
            <a:off x="7533918" y="1481320"/>
            <a:ext cx="1737300" cy="960000"/>
          </a:xfrm>
          <a:prstGeom prst="roundRect">
            <a:avLst>
              <a:gd fmla="val 7619" name="adj"/>
            </a:avLst>
          </a:prstGeom>
          <a:solidFill>
            <a:srgbClr val="EEF2FF"/>
          </a:solidFill>
          <a:ln cap="flat" cmpd="sng" w="12700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7698485" y="1559011"/>
            <a:ext cx="14082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platform design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E(Δ)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7533950" y="2560195"/>
            <a:ext cx="1737300" cy="960000"/>
          </a:xfrm>
          <a:prstGeom prst="roundRect">
            <a:avLst>
              <a:gd fmla="val 7619" name="adj"/>
            </a:avLst>
          </a:prstGeom>
          <a:solidFill>
            <a:srgbClr val="F0FDFA"/>
          </a:solidFill>
          <a:ln cap="flat" cmpd="sng" w="12700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7698492" y="2688273"/>
            <a:ext cx="14082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exposure profile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p(y)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7510980" y="3817558"/>
            <a:ext cx="1783200" cy="960000"/>
          </a:xfrm>
          <a:prstGeom prst="roundRect">
            <a:avLst>
              <a:gd fmla="val 7619" name="adj"/>
            </a:avLst>
          </a:prstGeom>
          <a:solidFill>
            <a:srgbClr val="FFF1F2"/>
          </a:solidFill>
          <a:ln cap="flat" cmpd="sng" w="12700">
            <a:solidFill>
              <a:srgbClr val="FDA4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7675672" y="3881611"/>
            <a:ext cx="14538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radicalization time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t(y0 → yf)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537960" y="5074920"/>
            <a:ext cx="4389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Core thesis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537960" y="5349240"/>
            <a:ext cx="4526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Exposure diversity is not intrinsically good or bad; its effect depends on where the exposure lands relative to the influence function.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6d8435669_1_0"/>
          <p:cNvSpPr/>
          <p:nvPr/>
        </p:nvSpPr>
        <p:spPr>
          <a:xfrm>
            <a:off x="0" y="0"/>
            <a:ext cx="12191700" cy="109800"/>
          </a:xfrm>
          <a:prstGeom prst="rect">
            <a:avLst/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f6d8435669_1_0"/>
          <p:cNvSpPr/>
          <p:nvPr/>
        </p:nvSpPr>
        <p:spPr>
          <a:xfrm>
            <a:off x="530352" y="6473952"/>
            <a:ext cx="502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f6d8435669_1_0"/>
          <p:cNvSpPr/>
          <p:nvPr/>
        </p:nvSpPr>
        <p:spPr>
          <a:xfrm>
            <a:off x="6583680" y="6473952"/>
            <a:ext cx="502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Cross-cutting exposure as an engine of radicalization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f6d8435669_1_0"/>
          <p:cNvSpPr/>
          <p:nvPr/>
        </p:nvSpPr>
        <p:spPr>
          <a:xfrm>
            <a:off x="530352" y="310896"/>
            <a:ext cx="1106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Model: physical space + adaptive digital attention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f6d8435669_1_0"/>
          <p:cNvSpPr/>
          <p:nvPr/>
        </p:nvSpPr>
        <p:spPr>
          <a:xfrm>
            <a:off x="557784" y="832104"/>
            <a:ext cx="978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Agents carry positions and opinions; a platform rewires a fixed number of attention slots.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" name="Google Shape;92;g3f6d8435669_1_0"/>
          <p:cNvCxnSpPr/>
          <p:nvPr/>
        </p:nvCxnSpPr>
        <p:spPr>
          <a:xfrm>
            <a:off x="530352" y="1170432"/>
            <a:ext cx="11109900" cy="0"/>
          </a:xfrm>
          <a:prstGeom prst="straightConnector1">
            <a:avLst/>
          </a:prstGeom>
          <a:noFill/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g3f6d8435669_1_0"/>
          <p:cNvCxnSpPr/>
          <p:nvPr/>
        </p:nvCxnSpPr>
        <p:spPr>
          <a:xfrm>
            <a:off x="2697480" y="2743200"/>
            <a:ext cx="201180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4" name="Google Shape;94;g3f6d8435669_1_0"/>
          <p:cNvCxnSpPr/>
          <p:nvPr/>
        </p:nvCxnSpPr>
        <p:spPr>
          <a:xfrm>
            <a:off x="7178040" y="2743200"/>
            <a:ext cx="2011800" cy="0"/>
          </a:xfrm>
          <a:prstGeom prst="straightConnector1">
            <a:avLst/>
          </a:prstGeom>
          <a:noFill/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5" name="Google Shape;95;g3f6d8435669_1_0"/>
          <p:cNvCxnSpPr/>
          <p:nvPr/>
        </p:nvCxnSpPr>
        <p:spPr>
          <a:xfrm>
            <a:off x="5961824" y="2743198"/>
            <a:ext cx="0" cy="1570800"/>
          </a:xfrm>
          <a:prstGeom prst="straightConnector1">
            <a:avLst/>
          </a:prstGeom>
          <a:noFill/>
          <a:ln cap="flat" cmpd="sng" w="39675">
            <a:solidFill>
              <a:srgbClr val="E11D4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" name="Google Shape;96;g3f6d8435669_1_0"/>
          <p:cNvSpPr/>
          <p:nvPr/>
        </p:nvSpPr>
        <p:spPr>
          <a:xfrm>
            <a:off x="685800" y="2011680"/>
            <a:ext cx="2514600" cy="1508700"/>
          </a:xfrm>
          <a:prstGeom prst="roundRect">
            <a:avLst>
              <a:gd fmla="val 4848" name="adj"/>
            </a:avLst>
          </a:prstGeom>
          <a:solidFill>
            <a:srgbClr val="F8FAFC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f6d8435669_1_0"/>
          <p:cNvSpPr/>
          <p:nvPr/>
        </p:nvSpPr>
        <p:spPr>
          <a:xfrm>
            <a:off x="850392" y="2121408"/>
            <a:ext cx="21855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Physical layer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Brownian mobility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short-range bounded confidence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f6d8435669_1_0"/>
          <p:cNvSpPr/>
          <p:nvPr/>
        </p:nvSpPr>
        <p:spPr>
          <a:xfrm>
            <a:off x="4572000" y="2011680"/>
            <a:ext cx="2651700" cy="1508700"/>
          </a:xfrm>
          <a:prstGeom prst="roundRect">
            <a:avLst>
              <a:gd fmla="val 4848" name="adj"/>
            </a:avLst>
          </a:prstGeom>
          <a:solidFill>
            <a:srgbClr val="F8FAFC"/>
          </a:solidFill>
          <a:ln cap="flat" cmpd="sng" w="1270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f6d8435669_1_0"/>
          <p:cNvSpPr/>
          <p:nvPr/>
        </p:nvSpPr>
        <p:spPr>
          <a:xfrm>
            <a:off x="4736542" y="2157946"/>
            <a:ext cx="23226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Digital layer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adaptive directed graph Aij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k fixed attention slots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f6d8435669_1_0"/>
          <p:cNvSpPr/>
          <p:nvPr/>
        </p:nvSpPr>
        <p:spPr>
          <a:xfrm>
            <a:off x="9235440" y="2011680"/>
            <a:ext cx="2377500" cy="1508700"/>
          </a:xfrm>
          <a:prstGeom prst="roundRect">
            <a:avLst>
              <a:gd fmla="val 4848" name="adj"/>
            </a:avLst>
          </a:prstGeom>
          <a:solidFill>
            <a:srgbClr val="F8FAFC"/>
          </a:solidFill>
          <a:ln cap="flat" cmpd="sng" w="12700">
            <a:solidFill>
              <a:srgbClr val="FDA4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f6d8435669_1_0"/>
          <p:cNvSpPr/>
          <p:nvPr/>
        </p:nvSpPr>
        <p:spPr>
          <a:xfrm>
            <a:off x="9400032" y="2121408"/>
            <a:ext cx="20484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Opinion dynamics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assimilation / indifference / repulsion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eq_pngs/alpha_beta.png" id="102" name="Google Shape;102;g3f6d8435669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1249" y="4398404"/>
            <a:ext cx="4117884" cy="7425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eq_pngs/prob.png" id="103" name="Google Shape;103;g3f6d8435669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5289" y="4444054"/>
            <a:ext cx="4117884" cy="742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f6d8435669_1_0"/>
          <p:cNvSpPr/>
          <p:nvPr/>
        </p:nvSpPr>
        <p:spPr>
          <a:xfrm>
            <a:off x="1005840" y="5166360"/>
            <a:ext cx="10241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Finite attention is the bridge: increasing digital exposure reduces physical influence.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f6d8435669_1_0"/>
          <p:cNvSpPr/>
          <p:nvPr/>
        </p:nvSpPr>
        <p:spPr>
          <a:xfrm>
            <a:off x="1371600" y="5669280"/>
            <a:ext cx="9509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• N = 200 reference agents; system-size scans to N = 1600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• projected opinions x ∈ [−1, 1]; periodic physical space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• heavy-tailed strengths tested, but not required for the inversion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6d8435669_1_84"/>
          <p:cNvSpPr/>
          <p:nvPr/>
        </p:nvSpPr>
        <p:spPr>
          <a:xfrm>
            <a:off x="0" y="0"/>
            <a:ext cx="12191700" cy="109800"/>
          </a:xfrm>
          <a:prstGeom prst="rect">
            <a:avLst/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f6d8435669_1_84"/>
          <p:cNvSpPr/>
          <p:nvPr/>
        </p:nvSpPr>
        <p:spPr>
          <a:xfrm>
            <a:off x="530352" y="6473952"/>
            <a:ext cx="502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f6d8435669_1_84"/>
          <p:cNvSpPr/>
          <p:nvPr/>
        </p:nvSpPr>
        <p:spPr>
          <a:xfrm>
            <a:off x="6583680" y="6473952"/>
            <a:ext cx="502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Cross-cutting exposure as an engine of radicalization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f6d8435669_1_84"/>
          <p:cNvSpPr/>
          <p:nvPr/>
        </p:nvSpPr>
        <p:spPr>
          <a:xfrm>
            <a:off x="530352" y="310896"/>
            <a:ext cx="1106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The decisive ingredient is not exposure alone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f6d8435669_1_84"/>
          <p:cNvSpPr/>
          <p:nvPr/>
        </p:nvSpPr>
        <p:spPr>
          <a:xfrm>
            <a:off x="557784" y="832104"/>
            <a:ext cx="978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Exposure only matters when it lands inside the repulsive branch of the influence function.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g3f6d8435669_1_84"/>
          <p:cNvCxnSpPr/>
          <p:nvPr/>
        </p:nvCxnSpPr>
        <p:spPr>
          <a:xfrm>
            <a:off x="530352" y="1170432"/>
            <a:ext cx="11109900" cy="0"/>
          </a:xfrm>
          <a:prstGeom prst="straightConnector1">
            <a:avLst/>
          </a:prstGeom>
          <a:noFill/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g3f6d8435669_1_84"/>
          <p:cNvSpPr/>
          <p:nvPr/>
        </p:nvSpPr>
        <p:spPr>
          <a:xfrm>
            <a:off x="615750" y="1554475"/>
            <a:ext cx="4177500" cy="3232200"/>
          </a:xfrm>
          <a:prstGeom prst="roundRect">
            <a:avLst>
              <a:gd fmla="val 1333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slide_assets_220/fig5_kernels_influence.png" id="118" name="Google Shape;118;g3f6d8435669_1_84"/>
          <p:cNvPicPr preferRelativeResize="0"/>
          <p:nvPr/>
        </p:nvPicPr>
        <p:blipFill rotWithShape="1">
          <a:blip r:embed="rId3">
            <a:alphaModFix/>
          </a:blip>
          <a:srcRect b="2582" l="0" r="0" t="0"/>
          <a:stretch/>
        </p:blipFill>
        <p:spPr>
          <a:xfrm>
            <a:off x="686550" y="1554475"/>
            <a:ext cx="3895351" cy="318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3f6d8435669_1_84"/>
          <p:cNvSpPr/>
          <p:nvPr/>
        </p:nvSpPr>
        <p:spPr>
          <a:xfrm>
            <a:off x="5212080" y="1554480"/>
            <a:ext cx="73200" cy="2376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f6d8435669_1_84"/>
          <p:cNvSpPr/>
          <p:nvPr/>
        </p:nvSpPr>
        <p:spPr>
          <a:xfrm>
            <a:off x="5376672" y="1508760"/>
            <a:ext cx="438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Three platform designs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f6d8435669_1_84"/>
          <p:cNvSpPr/>
          <p:nvPr/>
        </p:nvSpPr>
        <p:spPr>
          <a:xfrm>
            <a:off x="5321808" y="1901952"/>
            <a:ext cx="57606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Similarity-driven: hides distant views; creates echo-chamber feeds.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Neutral: samples opinion-blind; cross-bloc content remains visible.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Controversy-driven: promotes content near a preferred ideological distance.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f6d8435669_1_84"/>
          <p:cNvSpPr/>
          <p:nvPr/>
        </p:nvSpPr>
        <p:spPr>
          <a:xfrm>
            <a:off x="5212080" y="3566160"/>
            <a:ext cx="73200" cy="237600"/>
          </a:xfrm>
          <a:prstGeom prst="rect">
            <a:avLst/>
          </a:prstGeom>
          <a:solidFill>
            <a:srgbClr val="E11D48"/>
          </a:solidFill>
          <a:ln cap="flat" cmpd="sng" w="12700">
            <a:solidFill>
              <a:srgbClr val="E11D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f6d8435669_1_84"/>
          <p:cNvSpPr/>
          <p:nvPr/>
        </p:nvSpPr>
        <p:spPr>
          <a:xfrm>
            <a:off x="5376672" y="3520440"/>
            <a:ext cx="438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Three influence zones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f6d8435669_1_84"/>
          <p:cNvSpPr/>
          <p:nvPr/>
        </p:nvSpPr>
        <p:spPr>
          <a:xfrm>
            <a:off x="5321808" y="3913632"/>
            <a:ext cx="54864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Assimilate when opinions are close.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Ignore intermediate disagreements.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Repel when the opinion gap exceeds the rejection threshold ε2.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f6d8435669_1_84"/>
          <p:cNvSpPr/>
          <p:nvPr/>
        </p:nvSpPr>
        <p:spPr>
          <a:xfrm>
            <a:off x="5093205" y="4887980"/>
            <a:ext cx="5715000" cy="621900"/>
          </a:xfrm>
          <a:prstGeom prst="roundRect">
            <a:avLst>
              <a:gd fmla="val 11765" name="adj"/>
            </a:avLst>
          </a:prstGeom>
          <a:solidFill>
            <a:srgbClr val="FFF1F2"/>
          </a:solidFill>
          <a:ln cap="flat" cmpd="sng" w="12700">
            <a:solidFill>
              <a:srgbClr val="FDA4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f6d8435669_1_84"/>
          <p:cNvSpPr/>
          <p:nvPr/>
        </p:nvSpPr>
        <p:spPr>
          <a:xfrm>
            <a:off x="5257797" y="4997708"/>
            <a:ext cx="5385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Intuition: a platform can be polarizing not because it creates echo chambers, but because it keeps enough content in the repulsive zone.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6d8435669_1_25"/>
          <p:cNvSpPr/>
          <p:nvPr/>
        </p:nvSpPr>
        <p:spPr>
          <a:xfrm>
            <a:off x="0" y="0"/>
            <a:ext cx="12191700" cy="109800"/>
          </a:xfrm>
          <a:prstGeom prst="rect">
            <a:avLst/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f6d8435669_1_25"/>
          <p:cNvSpPr/>
          <p:nvPr/>
        </p:nvSpPr>
        <p:spPr>
          <a:xfrm>
            <a:off x="557765" y="6464977"/>
            <a:ext cx="502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THEORY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f6d8435669_1_25"/>
          <p:cNvSpPr/>
          <p:nvPr/>
        </p:nvSpPr>
        <p:spPr>
          <a:xfrm>
            <a:off x="6615318" y="6405252"/>
            <a:ext cx="502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Cross-cutting exposure as an engine of radicalization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f6d8435669_1_25"/>
          <p:cNvSpPr/>
          <p:nvPr/>
        </p:nvSpPr>
        <p:spPr>
          <a:xfrm>
            <a:off x="530352" y="310896"/>
            <a:ext cx="1106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Two-bloc reduction: exposure becomes a rate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f6d8435669_1_25"/>
          <p:cNvSpPr/>
          <p:nvPr/>
        </p:nvSpPr>
        <p:spPr>
          <a:xfrm>
            <a:off x="557784" y="832104"/>
            <a:ext cx="978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Once bounded-confidence dynamics has formed two blocs, the physical layer no longer pulls them together.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g3f6d8435669_1_25"/>
          <p:cNvCxnSpPr/>
          <p:nvPr/>
        </p:nvCxnSpPr>
        <p:spPr>
          <a:xfrm>
            <a:off x="530352" y="1170432"/>
            <a:ext cx="11109900" cy="0"/>
          </a:xfrm>
          <a:prstGeom prst="straightConnector1">
            <a:avLst/>
          </a:prstGeom>
          <a:noFill/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g3f6d8435669_1_25"/>
          <p:cNvSpPr/>
          <p:nvPr/>
        </p:nvSpPr>
        <p:spPr>
          <a:xfrm>
            <a:off x="731520" y="1417320"/>
            <a:ext cx="3474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Late-stage ansatz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f6d8435669_1_25"/>
          <p:cNvSpPr/>
          <p:nvPr/>
        </p:nvSpPr>
        <p:spPr>
          <a:xfrm>
            <a:off x="731528" y="1737350"/>
            <a:ext cx="5852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Two symmetric blocs at opinions +y and −y.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eq_pngs/py.png" id="140" name="Google Shape;140;g3f6d8435669_1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1970" y="2579938"/>
            <a:ext cx="2926079" cy="52765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f6d8435669_1_25"/>
          <p:cNvSpPr/>
          <p:nvPr/>
        </p:nvSpPr>
        <p:spPr>
          <a:xfrm>
            <a:off x="2637690" y="3191237"/>
            <a:ext cx="3474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p(y): stationary fraction of attention slots pointing across blocs.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eq_pngs/ydot.png" id="142" name="Google Shape;142;g3f6d8435669_1_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7215" y="2478005"/>
            <a:ext cx="3650951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f6d8435669_1_25"/>
          <p:cNvSpPr/>
          <p:nvPr/>
        </p:nvSpPr>
        <p:spPr>
          <a:xfrm>
            <a:off x="6615330" y="3191237"/>
            <a:ext cx="3383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Repulsion turns cross-bloc exposure into outward drift.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eq_pngs/tquad.png" id="144" name="Google Shape;144;g3f6d8435669_1_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53832" y="3776500"/>
            <a:ext cx="4056611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f6d8435669_1_25"/>
          <p:cNvSpPr/>
          <p:nvPr/>
        </p:nvSpPr>
        <p:spPr>
          <a:xfrm>
            <a:off x="1075797" y="4754908"/>
            <a:ext cx="98754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General result: any curation kernel maps to an exposure profile p(y), and the quadrature gives the radicalization timescale.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f6d8435669_1_25"/>
          <p:cNvSpPr/>
          <p:nvPr/>
        </p:nvSpPr>
        <p:spPr>
          <a:xfrm>
            <a:off x="1212957" y="5486428"/>
            <a:ext cx="9784200" cy="384000"/>
          </a:xfrm>
          <a:prstGeom prst="roundRect">
            <a:avLst>
              <a:gd fmla="val 19048" name="adj"/>
            </a:avLst>
          </a:prstGeom>
          <a:solidFill>
            <a:srgbClr val="F0FDFA"/>
          </a:solidFill>
          <a:ln cap="flat" cmpd="sng" w="12700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f6d8435669_1_25"/>
          <p:cNvSpPr/>
          <p:nvPr/>
        </p:nvSpPr>
        <p:spPr>
          <a:xfrm>
            <a:off x="1377550" y="5596156"/>
            <a:ext cx="9454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No positive threshold within the deterministic reduction: if p(y) &gt; 0 along the path, the blocs drift outward; what changes is the timescale.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6d8435669_1_106"/>
          <p:cNvSpPr/>
          <p:nvPr/>
        </p:nvSpPr>
        <p:spPr>
          <a:xfrm>
            <a:off x="0" y="0"/>
            <a:ext cx="12191700" cy="109800"/>
          </a:xfrm>
          <a:prstGeom prst="rect">
            <a:avLst/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f6d8435669_1_106"/>
          <p:cNvSpPr/>
          <p:nvPr/>
        </p:nvSpPr>
        <p:spPr>
          <a:xfrm>
            <a:off x="530352" y="6473952"/>
            <a:ext cx="502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BASELINES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f6d8435669_1_106"/>
          <p:cNvSpPr/>
          <p:nvPr/>
        </p:nvSpPr>
        <p:spPr>
          <a:xfrm>
            <a:off x="6583680" y="6473952"/>
            <a:ext cx="502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Cross-cutting exposure as an engine of radicalization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f6d8435669_1_106"/>
          <p:cNvSpPr/>
          <p:nvPr/>
        </p:nvSpPr>
        <p:spPr>
          <a:xfrm>
            <a:off x="530352" y="310896"/>
            <a:ext cx="1106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Assimilative baseline: mobility and neutral links heal fragmentation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f6d8435669_1_106"/>
          <p:cNvSpPr/>
          <p:nvPr/>
        </p:nvSpPr>
        <p:spPr>
          <a:xfrm>
            <a:off x="557784" y="832104"/>
            <a:ext cx="978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Before repulsion is activated, long-range opinion-blind exposure behaves like effective mobility.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g3f6d8435669_1_106"/>
          <p:cNvCxnSpPr/>
          <p:nvPr/>
        </p:nvCxnSpPr>
        <p:spPr>
          <a:xfrm>
            <a:off x="530352" y="1170432"/>
            <a:ext cx="11109900" cy="0"/>
          </a:xfrm>
          <a:prstGeom prst="straightConnector1">
            <a:avLst/>
          </a:prstGeom>
          <a:noFill/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g3f6d8435669_1_106"/>
          <p:cNvSpPr/>
          <p:nvPr/>
        </p:nvSpPr>
        <p:spPr>
          <a:xfrm>
            <a:off x="594350" y="1371600"/>
            <a:ext cx="5522100" cy="2444100"/>
          </a:xfrm>
          <a:prstGeom prst="roundRect">
            <a:avLst>
              <a:gd fmla="val 2449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f6d8435669_1_106"/>
          <p:cNvSpPr/>
          <p:nvPr/>
        </p:nvSpPr>
        <p:spPr>
          <a:xfrm>
            <a:off x="6309360" y="1371600"/>
            <a:ext cx="5212200" cy="2240400"/>
          </a:xfrm>
          <a:prstGeom prst="roundRect">
            <a:avLst>
              <a:gd fmla="val 2449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slide_assets_220/fig3_static_digital.png" id="161" name="Google Shape;161;g3f6d8435669_1_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5936" y="1651628"/>
            <a:ext cx="5138926" cy="168022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f6d8435669_1_106"/>
          <p:cNvSpPr/>
          <p:nvPr/>
        </p:nvSpPr>
        <p:spPr>
          <a:xfrm>
            <a:off x="731520" y="4087368"/>
            <a:ext cx="73200" cy="2376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f6d8435669_1_106"/>
          <p:cNvSpPr/>
          <p:nvPr/>
        </p:nvSpPr>
        <p:spPr>
          <a:xfrm>
            <a:off x="896112" y="4041648"/>
            <a:ext cx="438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Physical-only bounded confidence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f6d8435669_1_106"/>
          <p:cNvSpPr/>
          <p:nvPr/>
        </p:nvSpPr>
        <p:spPr>
          <a:xfrm>
            <a:off x="822960" y="4407408"/>
            <a:ext cx="49377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Low D freezes several local clusters.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High D approaches the mean-field bounded-confidence outcome.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No stable geographic color domains appear under opinion-independent mobility.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f6d8435669_1_106"/>
          <p:cNvSpPr/>
          <p:nvPr/>
        </p:nvSpPr>
        <p:spPr>
          <a:xfrm>
            <a:off x="6355080" y="4087368"/>
            <a:ext cx="73200" cy="2376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f6d8435669_1_106"/>
          <p:cNvSpPr/>
          <p:nvPr/>
        </p:nvSpPr>
        <p:spPr>
          <a:xfrm>
            <a:off x="6519672" y="4041648"/>
            <a:ext cx="438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Static neutral digital layer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f6d8435669_1_106"/>
          <p:cNvSpPr/>
          <p:nvPr/>
        </p:nvSpPr>
        <p:spPr>
          <a:xfrm>
            <a:off x="6446520" y="4407408"/>
            <a:ext cx="49377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Modest digital attention merges fragmented local clusters.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This is the benign effect expected from exposure diversity in a purely assimilative world.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The later inversion depends on activating the repulsive branch.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g3f6d8435669_1_1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9350" y="1653605"/>
            <a:ext cx="5162775" cy="1822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f6d8435669_1_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6101" y="1379437"/>
            <a:ext cx="4757399" cy="237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530352" y="6473952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BASELINES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6583680" y="6473952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Cross-cutting exposure as an engine of radicalization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530352" y="310896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Algorithmic homophily builds echo chambers - without geographic localization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557784" y="832104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 the assimilative model, similarity recommendation hides disagreement and preserves moderate fragmentation.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" name="Google Shape;180;p8"/>
          <p:cNvCxnSpPr/>
          <p:nvPr/>
        </p:nvCxnSpPr>
        <p:spPr>
          <a:xfrm>
            <a:off x="530352" y="117043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8"/>
          <p:cNvSpPr/>
          <p:nvPr/>
        </p:nvSpPr>
        <p:spPr>
          <a:xfrm>
            <a:off x="685800" y="1417320"/>
            <a:ext cx="6400800" cy="2926080"/>
          </a:xfrm>
          <a:prstGeom prst="roundRect">
            <a:avLst>
              <a:gd fmla="val 1875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slide_assets_220/fig4_echo_metrics.png" id="182" name="Google Shape;18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76" y="1705056"/>
            <a:ext cx="6327648" cy="2350608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8"/>
          <p:cNvSpPr/>
          <p:nvPr/>
        </p:nvSpPr>
        <p:spPr>
          <a:xfrm>
            <a:off x="7360920" y="1554480"/>
            <a:ext cx="73152" cy="23774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7525512" y="150876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What changes as homophily γ increases?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7452360" y="1901952"/>
            <a:ext cx="39319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80"/>
              <a:buFont typeface="Arial"/>
              <a:buNone/>
            </a:pPr>
            <a:r>
              <a:rPr b="0" i="0" lang="en-US" sz="128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Opinion assortativity approaches one.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80"/>
              <a:buFont typeface="Arial"/>
              <a:buNone/>
            </a:pPr>
            <a:r>
              <a:rPr b="0" i="0" lang="en-US" sz="128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Digital modularity rises.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80"/>
              <a:buFont typeface="Arial"/>
              <a:buNone/>
            </a:pPr>
            <a:r>
              <a:rPr b="0" i="0" lang="en-US" sz="128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Visible local disagreement collapses.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80"/>
              <a:buFont typeface="Arial"/>
              <a:buNone/>
            </a:pPr>
            <a:r>
              <a:rPr b="0" i="0" lang="en-US" sz="128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Cluster count remains moderate: fragmentation is hidden, not radicalized.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1051560" y="4892040"/>
            <a:ext cx="10012680" cy="777240"/>
          </a:xfrm>
          <a:prstGeom prst="roundRect">
            <a:avLst>
              <a:gd fmla="val 9412" name="adj"/>
            </a:avLst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1216152" y="5001768"/>
            <a:ext cx="9683496" cy="557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This creates a delocalized echo chamber: high global separation, low feed-level disagreement, but no spatial opinion map.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6d8435669_1_129"/>
          <p:cNvSpPr/>
          <p:nvPr/>
        </p:nvSpPr>
        <p:spPr>
          <a:xfrm>
            <a:off x="0" y="0"/>
            <a:ext cx="12191700" cy="109800"/>
          </a:xfrm>
          <a:prstGeom prst="rect">
            <a:avLst/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f6d8435669_1_129"/>
          <p:cNvSpPr/>
          <p:nvPr/>
        </p:nvSpPr>
        <p:spPr>
          <a:xfrm>
            <a:off x="530352" y="6473952"/>
            <a:ext cx="502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MAIN RESULT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f6d8435669_1_129"/>
          <p:cNvSpPr/>
          <p:nvPr/>
        </p:nvSpPr>
        <p:spPr>
          <a:xfrm>
            <a:off x="6583680" y="6473952"/>
            <a:ext cx="502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Cross-cutting exposure as an engine of radicalization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f6d8435669_1_129"/>
          <p:cNvSpPr/>
          <p:nvPr/>
        </p:nvSpPr>
        <p:spPr>
          <a:xfrm>
            <a:off x="530352" y="310896"/>
            <a:ext cx="1106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The inversion: uncurated exposure radicalizes most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f6d8435669_1_129"/>
          <p:cNvSpPr/>
          <p:nvPr/>
        </p:nvSpPr>
        <p:spPr>
          <a:xfrm>
            <a:off x="557784" y="832104"/>
            <a:ext cx="978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With repulsive influence, the ranking of platform designs reverses.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g3f6d8435669_1_129"/>
          <p:cNvCxnSpPr/>
          <p:nvPr/>
        </p:nvCxnSpPr>
        <p:spPr>
          <a:xfrm>
            <a:off x="530352" y="1170432"/>
            <a:ext cx="11109900" cy="0"/>
          </a:xfrm>
          <a:prstGeom prst="straightConnector1">
            <a:avLst/>
          </a:prstGeom>
          <a:noFill/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g3f6d8435669_1_129"/>
          <p:cNvSpPr/>
          <p:nvPr/>
        </p:nvSpPr>
        <p:spPr>
          <a:xfrm>
            <a:off x="685800" y="1325880"/>
            <a:ext cx="10789800" cy="27432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f6d8435669_1_129"/>
          <p:cNvSpPr/>
          <p:nvPr/>
        </p:nvSpPr>
        <p:spPr>
          <a:xfrm>
            <a:off x="914400" y="4453128"/>
            <a:ext cx="384000" cy="384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f6d8435669_1_129"/>
          <p:cNvSpPr/>
          <p:nvPr/>
        </p:nvSpPr>
        <p:spPr>
          <a:xfrm>
            <a:off x="1417320" y="4434840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Neutral platform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f6d8435669_1_129"/>
          <p:cNvSpPr/>
          <p:nvPr/>
        </p:nvSpPr>
        <p:spPr>
          <a:xfrm>
            <a:off x="1417320" y="4754880"/>
            <a:ext cx="27432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70"/>
              <a:buFont typeface="Arial"/>
              <a:buNone/>
            </a:pPr>
            <a:r>
              <a:rPr b="0" i="0" lang="en-US" sz="107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Fastest and most polarizing: half of every feed remains cross-bloc content.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f6d8435669_1_129"/>
          <p:cNvSpPr/>
          <p:nvPr/>
        </p:nvSpPr>
        <p:spPr>
          <a:xfrm>
            <a:off x="4389120" y="4453128"/>
            <a:ext cx="384000" cy="384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f6d8435669_1_129"/>
          <p:cNvSpPr/>
          <p:nvPr/>
        </p:nvSpPr>
        <p:spPr>
          <a:xfrm>
            <a:off x="4892040" y="4434840"/>
            <a:ext cx="3017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Controversy platform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f6d8435669_1_129"/>
          <p:cNvSpPr/>
          <p:nvPr/>
        </p:nvSpPr>
        <p:spPr>
          <a:xfrm>
            <a:off x="4892040" y="4754880"/>
            <a:ext cx="3017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70"/>
              <a:buFont typeface="Arial"/>
              <a:buNone/>
            </a:pPr>
            <a:r>
              <a:rPr b="0" i="0" lang="en-US" sz="107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Nearly as extreme, but arrests just short of the boundary as engagement collapses near maximum separation.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f6d8435669_1_129"/>
          <p:cNvSpPr/>
          <p:nvPr/>
        </p:nvSpPr>
        <p:spPr>
          <a:xfrm>
            <a:off x="8183880" y="4453128"/>
            <a:ext cx="384000" cy="384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f6d8435669_1_129"/>
          <p:cNvSpPr/>
          <p:nvPr/>
        </p:nvSpPr>
        <p:spPr>
          <a:xfrm>
            <a:off x="8686800" y="4434840"/>
            <a:ext cx="278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Similarity platform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f6d8435669_1_129"/>
          <p:cNvSpPr/>
          <p:nvPr/>
        </p:nvSpPr>
        <p:spPr>
          <a:xfrm>
            <a:off x="8686800" y="4754880"/>
            <a:ext cx="2788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70"/>
              <a:buFont typeface="Arial"/>
              <a:buNone/>
            </a:pPr>
            <a:r>
              <a:rPr b="0" i="0" lang="en-US" sz="107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Least polarizing on finite horizons because homophily starves the repulsive channel.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f6d8435669_1_129"/>
          <p:cNvSpPr/>
          <p:nvPr/>
        </p:nvSpPr>
        <p:spPr>
          <a:xfrm>
            <a:off x="914400" y="5733288"/>
            <a:ext cx="10515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Key distinction: the neutral platform polarizes with near-zero opinion assortativity - polarization without echo chambers.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g3f6d8435669_1_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1399" y="1325876"/>
            <a:ext cx="8062828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6d8435669_1_47"/>
          <p:cNvSpPr/>
          <p:nvPr/>
        </p:nvSpPr>
        <p:spPr>
          <a:xfrm>
            <a:off x="0" y="0"/>
            <a:ext cx="12191700" cy="109800"/>
          </a:xfrm>
          <a:prstGeom prst="rect">
            <a:avLst/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f6d8435669_1_47"/>
          <p:cNvSpPr/>
          <p:nvPr/>
        </p:nvSpPr>
        <p:spPr>
          <a:xfrm>
            <a:off x="530352" y="6473952"/>
            <a:ext cx="502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THEORY ↔ SIMULATION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f6d8435669_1_47"/>
          <p:cNvSpPr/>
          <p:nvPr/>
        </p:nvSpPr>
        <p:spPr>
          <a:xfrm>
            <a:off x="6583680" y="6473952"/>
            <a:ext cx="502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Cross-cutting exposure as an engine of radicalization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f6d8435669_1_47"/>
          <p:cNvSpPr/>
          <p:nvPr/>
        </p:nvSpPr>
        <p:spPr>
          <a:xfrm>
            <a:off x="530352" y="310896"/>
            <a:ext cx="1106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Onset is finite-horizon kinetics, not a phase transition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f6d8435669_1_47"/>
          <p:cNvSpPr/>
          <p:nvPr/>
        </p:nvSpPr>
        <p:spPr>
          <a:xfrm>
            <a:off x="557784" y="832104"/>
            <a:ext cx="978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apparent critical attention share is the time needed to traverse from y0 to yf.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Google Shape;221;g3f6d8435669_1_47"/>
          <p:cNvCxnSpPr/>
          <p:nvPr/>
        </p:nvCxnSpPr>
        <p:spPr>
          <a:xfrm>
            <a:off x="530352" y="1170432"/>
            <a:ext cx="11109900" cy="0"/>
          </a:xfrm>
          <a:prstGeom prst="straightConnector1">
            <a:avLst/>
          </a:prstGeom>
          <a:noFill/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g3f6d8435669_1_47"/>
          <p:cNvSpPr/>
          <p:nvPr/>
        </p:nvSpPr>
        <p:spPr>
          <a:xfrm>
            <a:off x="658368" y="1353312"/>
            <a:ext cx="6492300" cy="2834700"/>
          </a:xfrm>
          <a:prstGeom prst="roundRect">
            <a:avLst>
              <a:gd fmla="val 1935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slide_assets_220/fig9_onset.png" id="223" name="Google Shape;223;g3f6d8435669_1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944" y="1729699"/>
            <a:ext cx="6419086" cy="208186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g3f6d8435669_1_47"/>
          <p:cNvSpPr/>
          <p:nvPr/>
        </p:nvSpPr>
        <p:spPr>
          <a:xfrm>
            <a:off x="7388352" y="1417320"/>
            <a:ext cx="3950100" cy="1737300"/>
          </a:xfrm>
          <a:prstGeom prst="roundRect">
            <a:avLst>
              <a:gd fmla="val 3158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f6d8435669_1_47"/>
          <p:cNvSpPr/>
          <p:nvPr/>
        </p:nvSpPr>
        <p:spPr>
          <a:xfrm>
            <a:off x="7571232" y="1536192"/>
            <a:ext cx="3474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80"/>
              <a:buFont typeface="Arial"/>
              <a:buNone/>
            </a:pPr>
            <a:r>
              <a:rPr b="1" i="0" lang="en-US" sz="98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Table I · two-bloc rate analysis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6" name="Google Shape;226;g3f6d8435669_1_47"/>
          <p:cNvGraphicFramePr/>
          <p:nvPr/>
        </p:nvGraphicFramePr>
        <p:xfrm>
          <a:off x="7516368" y="17556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{80A08FF1-1B94-4A7C-8F97-2C97D09D5229}</a:tableStyleId>
              </a:tblPr>
              <a:tblGrid>
                <a:gridCol w="1463050"/>
                <a:gridCol w="502925"/>
                <a:gridCol w="868675"/>
                <a:gridCol w="777250"/>
              </a:tblGrid>
              <a:tr h="283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20"/>
                        <a:buFont typeface="Arial"/>
                        <a:buNone/>
                      </a:pPr>
                      <a:r>
                        <a:rPr lang="en-US" sz="92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Platform</a:t>
                      </a:r>
                      <a:endParaRPr sz="92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20"/>
                        <a:buFont typeface="Arial"/>
                        <a:buNone/>
                      </a:pPr>
                      <a:r>
                        <a:rPr lang="en-US" sz="92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p0</a:t>
                      </a:r>
                      <a:endParaRPr sz="92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20"/>
                        <a:buFont typeface="Arial"/>
                        <a:buNone/>
                      </a:pPr>
                      <a:r>
                        <a:rPr lang="en-US" sz="92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t_rad(λ)</a:t>
                      </a:r>
                      <a:endParaRPr sz="92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20"/>
                        <a:buFont typeface="Arial"/>
                        <a:buNone/>
                      </a:pPr>
                      <a:r>
                        <a:rPr lang="en-US" sz="92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λc(T=80)</a:t>
                      </a:r>
                      <a:endParaRPr sz="92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20"/>
                        <a:buFont typeface="Arial"/>
                        <a:buNone/>
                      </a:pPr>
                      <a:r>
                        <a:rPr lang="en-US" sz="92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Similarity-driven</a:t>
                      </a:r>
                      <a:endParaRPr sz="92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20"/>
                        <a:buFont typeface="Arial"/>
                        <a:buNone/>
                      </a:pPr>
                      <a:r>
                        <a:rPr lang="en-US" sz="92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0.0082</a:t>
                      </a:r>
                      <a:endParaRPr sz="92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20"/>
                        <a:buFont typeface="Arial"/>
                        <a:buNone/>
                      </a:pPr>
                      <a:r>
                        <a:rPr lang="en-US" sz="92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78.2/λ</a:t>
                      </a:r>
                      <a:endParaRPr sz="92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20"/>
                        <a:buFont typeface="Arial"/>
                        <a:buNone/>
                      </a:pPr>
                      <a:r>
                        <a:rPr lang="en-US" sz="92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0.98</a:t>
                      </a:r>
                      <a:endParaRPr sz="92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20"/>
                        <a:buFont typeface="Arial"/>
                        <a:buNone/>
                      </a:pPr>
                      <a:r>
                        <a:rPr lang="en-US" sz="92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Neutral</a:t>
                      </a:r>
                      <a:endParaRPr sz="92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20"/>
                        <a:buFont typeface="Arial"/>
                        <a:buNone/>
                      </a:pPr>
                      <a:r>
                        <a:rPr lang="en-US" sz="92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0.500</a:t>
                      </a:r>
                      <a:endParaRPr sz="92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20"/>
                        <a:buFont typeface="Arial"/>
                        <a:buNone/>
                      </a:pPr>
                      <a:r>
                        <a:rPr lang="en-US" sz="92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1.28/λ</a:t>
                      </a:r>
                      <a:endParaRPr sz="92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20"/>
                        <a:buFont typeface="Arial"/>
                        <a:buNone/>
                      </a:pPr>
                      <a:r>
                        <a:rPr lang="en-US" sz="92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0.016</a:t>
                      </a:r>
                      <a:endParaRPr sz="92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3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20"/>
                        <a:buFont typeface="Arial"/>
                        <a:buNone/>
                      </a:pPr>
                      <a:r>
                        <a:rPr lang="en-US" sz="92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Controversy-driven</a:t>
                      </a:r>
                      <a:endParaRPr sz="92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20"/>
                        <a:buFont typeface="Arial"/>
                        <a:buNone/>
                      </a:pPr>
                      <a:r>
                        <a:rPr lang="en-US" sz="92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0.998</a:t>
                      </a:r>
                      <a:endParaRPr sz="92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20"/>
                        <a:buFont typeface="Arial"/>
                        <a:buNone/>
                      </a:pPr>
                      <a:r>
                        <a:rPr lang="en-US" sz="92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0.64/λ</a:t>
                      </a:r>
                      <a:endParaRPr sz="92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20"/>
                        <a:buFont typeface="Arial"/>
                        <a:buNone/>
                      </a:pPr>
                      <a:r>
                        <a:rPr lang="en-US" sz="920" u="none" cap="none" strike="noStrik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0.008</a:t>
                      </a:r>
                      <a:endParaRPr sz="92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27425" marL="27425">
                    <a:lnL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EE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descr="/mnt/data/eq_pngs/lambda_c.png" id="227" name="Google Shape;227;g3f6d8435669_1_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5931" y="3401519"/>
            <a:ext cx="6867327" cy="12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3f6d8435669_1_47"/>
          <p:cNvSpPr/>
          <p:nvPr/>
        </p:nvSpPr>
        <p:spPr>
          <a:xfrm>
            <a:off x="822960" y="4590288"/>
            <a:ext cx="10515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Neutral and controversy crossovers lie below the grid resolution: λc ≈ 0.01-0.02.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Similarity has λc ≈ 1: finite-horizon “protection” is a slow-rate effect, not asymptotic safety.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The well-mixed limit matches neutral nearly quantitatively and tracks the other curves.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6d8435669_1_153"/>
          <p:cNvSpPr/>
          <p:nvPr/>
        </p:nvSpPr>
        <p:spPr>
          <a:xfrm>
            <a:off x="0" y="0"/>
            <a:ext cx="12191700" cy="109800"/>
          </a:xfrm>
          <a:prstGeom prst="rect">
            <a:avLst/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f6d8435669_1_153"/>
          <p:cNvSpPr/>
          <p:nvPr/>
        </p:nvSpPr>
        <p:spPr>
          <a:xfrm>
            <a:off x="530352" y="6473952"/>
            <a:ext cx="502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ROBUSTNESS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f6d8435669_1_153"/>
          <p:cNvSpPr/>
          <p:nvPr/>
        </p:nvSpPr>
        <p:spPr>
          <a:xfrm>
            <a:off x="6583680" y="6473952"/>
            <a:ext cx="502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Cross-cutting exposure as an engine of radicalization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f6d8435669_1_153"/>
          <p:cNvSpPr/>
          <p:nvPr/>
        </p:nvSpPr>
        <p:spPr>
          <a:xfrm>
            <a:off x="530352" y="310896"/>
            <a:ext cx="1106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Robustness: the ordering survives structural controls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f6d8435669_1_153"/>
          <p:cNvSpPr/>
          <p:nvPr/>
        </p:nvSpPr>
        <p:spPr>
          <a:xfrm>
            <a:off x="557784" y="832104"/>
            <a:ext cx="978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inversion is not a heavy-tail artifact, boundary artifact, or small-system artifact.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9" name="Google Shape;239;g3f6d8435669_1_153"/>
          <p:cNvCxnSpPr/>
          <p:nvPr/>
        </p:nvCxnSpPr>
        <p:spPr>
          <a:xfrm>
            <a:off x="530352" y="1170432"/>
            <a:ext cx="11109900" cy="0"/>
          </a:xfrm>
          <a:prstGeom prst="straightConnector1">
            <a:avLst/>
          </a:prstGeom>
          <a:noFill/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g3f6d8435669_1_153"/>
          <p:cNvSpPr/>
          <p:nvPr/>
        </p:nvSpPr>
        <p:spPr>
          <a:xfrm>
            <a:off x="640080" y="1325880"/>
            <a:ext cx="5943600" cy="2331600"/>
          </a:xfrm>
          <a:prstGeom prst="roundRect">
            <a:avLst>
              <a:gd fmla="val 2353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slide_assets_220/fig7_robustness.png" id="241" name="Google Shape;241;g3f6d8435669_1_1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" y="1589866"/>
            <a:ext cx="5870449" cy="1803747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g3f6d8435669_1_153"/>
          <p:cNvSpPr/>
          <p:nvPr/>
        </p:nvSpPr>
        <p:spPr>
          <a:xfrm>
            <a:off x="6903725" y="1214825"/>
            <a:ext cx="4397100" cy="2637000"/>
          </a:xfrm>
          <a:prstGeom prst="roundRect">
            <a:avLst>
              <a:gd fmla="val 2449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f6d8435669_1_153"/>
          <p:cNvSpPr/>
          <p:nvPr/>
        </p:nvSpPr>
        <p:spPr>
          <a:xfrm>
            <a:off x="1788450" y="3744725"/>
            <a:ext cx="2452200" cy="3113100"/>
          </a:xfrm>
          <a:prstGeom prst="roundRect">
            <a:avLst>
              <a:gd fmla="val 292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f6d8435669_1_153"/>
          <p:cNvSpPr/>
          <p:nvPr/>
        </p:nvSpPr>
        <p:spPr>
          <a:xfrm>
            <a:off x="4800600" y="4041648"/>
            <a:ext cx="64008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40"/>
              <a:buFont typeface="Arial"/>
              <a:buNone/>
            </a:pPr>
            <a:r>
              <a:rPr b="0" i="0" lang="en-US" sz="124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Homogeneous strengths and finite-variance strengths reproduce the same platform ordering.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40"/>
              <a:buFont typeface="Arial"/>
              <a:buNone/>
            </a:pPr>
            <a:r>
              <a:rPr b="0" i="0" lang="en-US" sz="124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Reflecting boundaries preserve the effect, so saturation is not created by clipping.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40"/>
              <a:buFont typeface="Arial"/>
              <a:buNone/>
            </a:pPr>
            <a:r>
              <a:rPr b="0" i="0" lang="en-US" sz="124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Fast rewiring strengthens homophilic protection; slow rewiring lets rare cross-bloc links act longer.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40"/>
              <a:buFont typeface="Arial"/>
              <a:buNone/>
            </a:pPr>
            <a:r>
              <a:rPr b="0" i="0" lang="en-US" sz="124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System-size scans up to N = 1600 are essentially flat at constant density.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5" name="Google Shape;245;g3f6d8435669_1_1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07620" y="1252720"/>
            <a:ext cx="3981299" cy="254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g3f6d8435669_1_1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7068" y="3801037"/>
            <a:ext cx="2220219" cy="299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6d8435669_1_172"/>
          <p:cNvSpPr/>
          <p:nvPr/>
        </p:nvSpPr>
        <p:spPr>
          <a:xfrm>
            <a:off x="0" y="0"/>
            <a:ext cx="12191700" cy="109800"/>
          </a:xfrm>
          <a:prstGeom prst="rect">
            <a:avLst/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f6d8435669_1_172"/>
          <p:cNvSpPr/>
          <p:nvPr/>
        </p:nvSpPr>
        <p:spPr>
          <a:xfrm>
            <a:off x="530352" y="6473952"/>
            <a:ext cx="502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GEOGRAPHY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f6d8435669_1_172"/>
          <p:cNvSpPr/>
          <p:nvPr/>
        </p:nvSpPr>
        <p:spPr>
          <a:xfrm>
            <a:off x="6583680" y="6473952"/>
            <a:ext cx="502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Cross-cutting exposure as an engine of radicalization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3f6d8435669_1_172"/>
          <p:cNvSpPr/>
          <p:nvPr/>
        </p:nvSpPr>
        <p:spPr>
          <a:xfrm>
            <a:off x="530352" y="310896"/>
            <a:ext cx="1106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Attention can neutralize geography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f6d8435669_1_172"/>
          <p:cNvSpPr/>
          <p:nvPr/>
        </p:nvSpPr>
        <p:spPr>
          <a:xfrm>
            <a:off x="557784" y="832104"/>
            <a:ext cx="978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When the platform owns most exposure, physical mobility no longer controls the outcome.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7" name="Google Shape;257;g3f6d8435669_1_172"/>
          <p:cNvCxnSpPr/>
          <p:nvPr/>
        </p:nvCxnSpPr>
        <p:spPr>
          <a:xfrm>
            <a:off x="530352" y="1170432"/>
            <a:ext cx="11109900" cy="0"/>
          </a:xfrm>
          <a:prstGeom prst="straightConnector1">
            <a:avLst/>
          </a:prstGeom>
          <a:noFill/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" name="Google Shape;258;g3f6d8435669_1_172"/>
          <p:cNvSpPr/>
          <p:nvPr/>
        </p:nvSpPr>
        <p:spPr>
          <a:xfrm>
            <a:off x="225850" y="1371600"/>
            <a:ext cx="7043700" cy="23031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f6d8435669_1_172"/>
          <p:cNvSpPr/>
          <p:nvPr/>
        </p:nvSpPr>
        <p:spPr>
          <a:xfrm>
            <a:off x="7452360" y="1554480"/>
            <a:ext cx="73200" cy="2376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f6d8435669_1_172"/>
          <p:cNvSpPr/>
          <p:nvPr/>
        </p:nvSpPr>
        <p:spPr>
          <a:xfrm>
            <a:off x="7616952" y="1508760"/>
            <a:ext cx="438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Interpretation of the regime map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f6d8435669_1_172"/>
          <p:cNvSpPr/>
          <p:nvPr/>
        </p:nvSpPr>
        <p:spPr>
          <a:xfrm>
            <a:off x="7543800" y="1920240"/>
            <a:ext cx="40233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80"/>
              <a:buFont typeface="Arial"/>
              <a:buNone/>
            </a:pPr>
            <a:r>
              <a:rPr b="0" i="0" lang="en-US" sz="128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At λ ≈ 0, the physical layer determines the outcome through the mobility D.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80"/>
              <a:buFont typeface="Arial"/>
              <a:buNone/>
            </a:pPr>
            <a:r>
              <a:rPr b="0" i="0" lang="en-US" sz="128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As λ grows, digital attention activates residual cross-cutting repulsion.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80"/>
              <a:buFont typeface="Arial"/>
              <a:buNone/>
            </a:pPr>
            <a:r>
              <a:rPr b="0" i="0" lang="en-US" sz="128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At high λ, polarization and extremism become nearly independent of D.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f6d8435669_1_172"/>
          <p:cNvSpPr/>
          <p:nvPr/>
        </p:nvSpPr>
        <p:spPr>
          <a:xfrm>
            <a:off x="7406640" y="3886200"/>
            <a:ext cx="3840600" cy="777300"/>
          </a:xfrm>
          <a:prstGeom prst="roundRect">
            <a:avLst>
              <a:gd fmla="val 9412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f6d8435669_1_172"/>
          <p:cNvSpPr/>
          <p:nvPr/>
        </p:nvSpPr>
        <p:spPr>
          <a:xfrm>
            <a:off x="7571232" y="3995928"/>
            <a:ext cx="35112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Physical intuition: geography only matters for populations whose attention it still owns.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f6d8435669_1_172"/>
          <p:cNvSpPr/>
          <p:nvPr/>
        </p:nvSpPr>
        <p:spPr>
          <a:xfrm>
            <a:off x="897845" y="3886195"/>
            <a:ext cx="6080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70"/>
              <a:buFont typeface="Arial"/>
              <a:buNone/>
            </a:pPr>
            <a:r>
              <a:rPr b="0" i="0" lang="en-US" sz="97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Figure 10 is intentionally a coarse regime map: boundaries are qualitative at 3 realizations per point.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g3f6d8435669_1_1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848" y="1745527"/>
            <a:ext cx="7007576" cy="177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6d8435669_1_66"/>
          <p:cNvSpPr/>
          <p:nvPr/>
        </p:nvSpPr>
        <p:spPr>
          <a:xfrm>
            <a:off x="0" y="0"/>
            <a:ext cx="12191700" cy="109800"/>
          </a:xfrm>
          <a:prstGeom prst="rect">
            <a:avLst/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f6d8435669_1_66"/>
          <p:cNvSpPr/>
          <p:nvPr/>
        </p:nvSpPr>
        <p:spPr>
          <a:xfrm>
            <a:off x="530352" y="6473952"/>
            <a:ext cx="502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GEOGRAPHY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f6d8435669_1_66"/>
          <p:cNvSpPr/>
          <p:nvPr/>
        </p:nvSpPr>
        <p:spPr>
          <a:xfrm>
            <a:off x="6583680" y="6473952"/>
            <a:ext cx="5029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Cross-cutting exposure as an engine of radicalization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f6d8435669_1_66"/>
          <p:cNvSpPr/>
          <p:nvPr/>
        </p:nvSpPr>
        <p:spPr>
          <a:xfrm>
            <a:off x="530352" y="310896"/>
            <a:ext cx="1106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Brownian mobility alone does not create geographic opinion domains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f6d8435669_1_66"/>
          <p:cNvSpPr/>
          <p:nvPr/>
        </p:nvSpPr>
        <p:spPr>
          <a:xfrm>
            <a:off x="557784" y="832104"/>
            <a:ext cx="978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Spatial opinion structure appears only when movement itself is coupled to opinion.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" name="Google Shape;276;g3f6d8435669_1_66"/>
          <p:cNvCxnSpPr/>
          <p:nvPr/>
        </p:nvCxnSpPr>
        <p:spPr>
          <a:xfrm>
            <a:off x="530352" y="1170432"/>
            <a:ext cx="11109900" cy="0"/>
          </a:xfrm>
          <a:prstGeom prst="straightConnector1">
            <a:avLst/>
          </a:prstGeom>
          <a:noFill/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g3f6d8435669_1_66"/>
          <p:cNvSpPr/>
          <p:nvPr/>
        </p:nvSpPr>
        <p:spPr>
          <a:xfrm>
            <a:off x="777240" y="1325880"/>
            <a:ext cx="3200400" cy="3063300"/>
          </a:xfrm>
          <a:prstGeom prst="roundRect">
            <a:avLst>
              <a:gd fmla="val 1791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slide_assets_220_fixed/fig2_mobility_fixed.png" id="278" name="Google Shape;278;g3f6d8435669_1_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8536" y="1371600"/>
            <a:ext cx="2177808" cy="2971801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g3f6d8435669_1_66"/>
          <p:cNvSpPr/>
          <p:nvPr/>
        </p:nvSpPr>
        <p:spPr>
          <a:xfrm>
            <a:off x="4297680" y="1325880"/>
            <a:ext cx="7132200" cy="3063300"/>
          </a:xfrm>
          <a:prstGeom prst="roundRect">
            <a:avLst>
              <a:gd fmla="val 1791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f6d8435669_1_66"/>
          <p:cNvSpPr/>
          <p:nvPr/>
        </p:nvSpPr>
        <p:spPr>
          <a:xfrm>
            <a:off x="914400" y="4800600"/>
            <a:ext cx="102414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80"/>
              <a:buFont typeface="Arial"/>
              <a:buNone/>
            </a:pPr>
            <a:r>
              <a:rPr b="0" i="0" lang="en-US" sz="128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With opinion-independent Brownian motion, Moran’s I and pair-level agreement remain at noise level.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80"/>
              <a:buFont typeface="Arial"/>
              <a:buNone/>
            </a:pPr>
            <a:r>
              <a:rPr b="0" i="0" lang="en-US" sz="128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Adding homophilic drift creates domains once drift beats diffusion over the interaction range.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80"/>
              <a:buFont typeface="Arial"/>
              <a:buNone/>
            </a:pPr>
            <a:r>
              <a:rPr b="0" i="0" lang="en-US" sz="128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The collapse occurs in the Péclet number Pe = χℓ/D, with onset around Pe ~ 1.</a:t>
            </a:r>
            <a:endParaRPr b="0" i="0" sz="12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eq_pngs/Pe.png" id="281" name="Google Shape;281;g3f6d8435669_1_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6387" y="5418426"/>
            <a:ext cx="7337431" cy="132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g3f6d8435669_1_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83121" y="1758438"/>
            <a:ext cx="6891550" cy="209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4"/>
          <p:cNvSpPr/>
          <p:nvPr/>
        </p:nvSpPr>
        <p:spPr>
          <a:xfrm>
            <a:off x="530352" y="6473952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6583680" y="6473952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Cross-cutting exposure as an engine of radicalization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530352" y="310896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What the model says socially - and what it does not say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557784" y="832104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result is a conditional mechanism, not a calibrated claim about real platforms.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3" name="Google Shape;293;p14"/>
          <p:cNvCxnSpPr/>
          <p:nvPr/>
        </p:nvCxnSpPr>
        <p:spPr>
          <a:xfrm>
            <a:off x="530352" y="117043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p14"/>
          <p:cNvSpPr/>
          <p:nvPr/>
        </p:nvSpPr>
        <p:spPr>
          <a:xfrm>
            <a:off x="731520" y="1435608"/>
            <a:ext cx="384048" cy="38404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1234440" y="1417320"/>
            <a:ext cx="4709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Exposure diversity has a sign problem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1234440" y="1737360"/>
            <a:ext cx="4709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70"/>
              <a:buFont typeface="Arial"/>
              <a:buNone/>
            </a:pPr>
            <a:r>
              <a:rPr b="0" i="0" lang="en-US" sz="107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If influence is assimilative, cross-cutting exposure heals fragmentation. If strongly opposed views repel, the same intervention can radicalize.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4"/>
          <p:cNvSpPr/>
          <p:nvPr/>
        </p:nvSpPr>
        <p:spPr>
          <a:xfrm>
            <a:off x="731520" y="2834640"/>
            <a:ext cx="384048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1234440" y="2816352"/>
            <a:ext cx="4709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Echo chambers are not the only route to polarization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1234440" y="3136392"/>
            <a:ext cx="4709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70"/>
              <a:buFont typeface="Arial"/>
              <a:buNone/>
            </a:pPr>
            <a:r>
              <a:rPr b="0" i="0" lang="en-US" sz="107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neutral platform reaches maximal polarization while retaining near-zero opinion assortativity.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731520" y="4114800"/>
            <a:ext cx="384048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1234440" y="4096512"/>
            <a:ext cx="4709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Platform design is a kinetic filter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1234440" y="4416552"/>
            <a:ext cx="4709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70"/>
              <a:buFont typeface="Arial"/>
              <a:buNone/>
            </a:pPr>
            <a:r>
              <a:rPr b="0" i="0" lang="en-US" sz="107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Curation decides how much exposure lies in the repulsive zone and therefore sets the radicalization timescale.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3" name="Google Shape;303;p14"/>
          <p:cNvCxnSpPr/>
          <p:nvPr/>
        </p:nvCxnSpPr>
        <p:spPr>
          <a:xfrm>
            <a:off x="6400800" y="2103120"/>
            <a:ext cx="4206240" cy="0"/>
          </a:xfrm>
          <a:prstGeom prst="straightConnector1">
            <a:avLst/>
          </a:prstGeom>
          <a:noFill/>
          <a:ln cap="flat" cmpd="sng" w="25400">
            <a:solidFill>
              <a:srgbClr val="D8DEE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4" name="Google Shape;304;p14"/>
          <p:cNvCxnSpPr/>
          <p:nvPr/>
        </p:nvCxnSpPr>
        <p:spPr>
          <a:xfrm>
            <a:off x="6400800" y="4023360"/>
            <a:ext cx="4206240" cy="0"/>
          </a:xfrm>
          <a:prstGeom prst="straightConnector1">
            <a:avLst/>
          </a:prstGeom>
          <a:noFill/>
          <a:ln cap="flat" cmpd="sng" w="25400">
            <a:solidFill>
              <a:srgbClr val="D8DEE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5" name="Google Shape;305;p14"/>
          <p:cNvSpPr/>
          <p:nvPr/>
        </p:nvSpPr>
        <p:spPr>
          <a:xfrm>
            <a:off x="6126480" y="1463040"/>
            <a:ext cx="1965960" cy="1097280"/>
          </a:xfrm>
          <a:prstGeom prst="roundRect">
            <a:avLst>
              <a:gd fmla="val 6667" name="adj"/>
            </a:avLst>
          </a:prstGeom>
          <a:solidFill>
            <a:srgbClr val="FFF7ED"/>
          </a:solidFill>
          <a:ln cap="flat" cmpd="sng" w="12700">
            <a:solidFill>
              <a:srgbClr val="FDBA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4"/>
          <p:cNvSpPr/>
          <p:nvPr/>
        </p:nvSpPr>
        <p:spPr>
          <a:xfrm>
            <a:off x="6291072" y="1572768"/>
            <a:ext cx="1636776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intervention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more opposing content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8366760" y="1463040"/>
            <a:ext cx="2240280" cy="1097280"/>
          </a:xfrm>
          <a:prstGeom prst="roundRect">
            <a:avLst>
              <a:gd fmla="val 6667" name="adj"/>
            </a:avLst>
          </a:prstGeom>
          <a:solidFill>
            <a:srgbClr val="F5F3FF"/>
          </a:solidFill>
          <a:ln cap="flat" cmpd="sng" w="1270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4"/>
          <p:cNvSpPr/>
          <p:nvPr/>
        </p:nvSpPr>
        <p:spPr>
          <a:xfrm>
            <a:off x="8531352" y="1572768"/>
            <a:ext cx="1911096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psychology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assimilation vs. repulsion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7315200" y="3383280"/>
            <a:ext cx="2743200" cy="1143000"/>
          </a:xfrm>
          <a:prstGeom prst="roundRect">
            <a:avLst>
              <a:gd fmla="val 6400" name="adj"/>
            </a:avLst>
          </a:prstGeom>
          <a:solidFill>
            <a:srgbClr val="F0FDFA"/>
          </a:solidFill>
          <a:ln cap="flat" cmpd="sng" w="12700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4"/>
          <p:cNvSpPr/>
          <p:nvPr/>
        </p:nvSpPr>
        <p:spPr>
          <a:xfrm>
            <a:off x="7479792" y="3493008"/>
            <a:ext cx="2414016" cy="923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outcome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heal or radicalize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6492240" y="516636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Empirical caveat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6492240" y="5440680"/>
            <a:ext cx="4297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The repulsive branch is contested and the model is not calibrated to data. The claim is: if negative influence is prevalent, exposure interventions must condition on it.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5"/>
          <p:cNvSpPr/>
          <p:nvPr/>
        </p:nvSpPr>
        <p:spPr>
          <a:xfrm>
            <a:off x="530352" y="6473952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LIMITS &amp; NEXT STEPS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6583680" y="6473952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Cross-cutting exposure as an engine of radicalization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5"/>
          <p:cNvSpPr/>
          <p:nvPr/>
        </p:nvSpPr>
        <p:spPr>
          <a:xfrm>
            <a:off x="530352" y="310896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Limitations and future work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5"/>
          <p:cNvSpPr/>
          <p:nvPr/>
        </p:nvSpPr>
        <p:spPr>
          <a:xfrm>
            <a:off x="557784" y="832104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model isolates a mechanism; several extensions are natural.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3" name="Google Shape;323;p15"/>
          <p:cNvCxnSpPr/>
          <p:nvPr/>
        </p:nvCxnSpPr>
        <p:spPr>
          <a:xfrm>
            <a:off x="530352" y="117043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4" name="Google Shape;324;p15"/>
          <p:cNvSpPr/>
          <p:nvPr/>
        </p:nvSpPr>
        <p:spPr>
          <a:xfrm>
            <a:off x="731520" y="1463040"/>
            <a:ext cx="73152" cy="237744"/>
          </a:xfrm>
          <a:prstGeom prst="rect">
            <a:avLst/>
          </a:prstGeom>
          <a:solidFill>
            <a:srgbClr val="E11D48"/>
          </a:solidFill>
          <a:ln cap="flat" cmpd="sng" w="12700">
            <a:solidFill>
              <a:srgbClr val="E11D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5"/>
          <p:cNvSpPr/>
          <p:nvPr/>
        </p:nvSpPr>
        <p:spPr>
          <a:xfrm>
            <a:off x="896112" y="141732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Current limitations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822960" y="1810512"/>
            <a:ext cx="53492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One-dimensional opinions and fixed confidence bounds.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Fixed attention share λ instead of platform-optimized attention allocation.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Engagement kernel is a function of opinion distance, not learned behavior.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Repulsive influence is treated as a conditional mechanism, not an empirically settled assumption.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Stubborn agents are implemented but not systematically swept.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6400800" y="1463040"/>
            <a:ext cx="73152" cy="237744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5"/>
          <p:cNvSpPr/>
          <p:nvPr/>
        </p:nvSpPr>
        <p:spPr>
          <a:xfrm>
            <a:off x="6565392" y="141732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6492240" y="1810512"/>
            <a:ext cx="5074920" cy="27889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Derive a rigorous McKean-Vlasov limit for finite-variance strengths and a non-self-averaging theory for heavy tails.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Endogenize λ with an engagement-maximizing platform.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Sweep stubborn-agent number and placement against platform design.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• Use field experiments to estimate repulsive-zone prevalence and test exposure-diversity sign changes.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5"/>
          <p:cNvSpPr/>
          <p:nvPr/>
        </p:nvSpPr>
        <p:spPr>
          <a:xfrm>
            <a:off x="1188707" y="4214700"/>
            <a:ext cx="9784200" cy="731400"/>
          </a:xfrm>
          <a:prstGeom prst="roundRect">
            <a:avLst>
              <a:gd fmla="val 10000" name="adj"/>
            </a:avLst>
          </a:prstGeom>
          <a:solidFill>
            <a:srgbClr val="FEFCE8"/>
          </a:solidFill>
          <a:ln cap="flat" cmpd="sng" w="127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5"/>
          <p:cNvSpPr/>
          <p:nvPr/>
        </p:nvSpPr>
        <p:spPr>
          <a:xfrm>
            <a:off x="1283262" y="4324366"/>
            <a:ext cx="94548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Research question for future empirical work: for whom, and at what opinion distances, does exposure create assimilation versus repulsion?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 cap="flat" cmpd="sng" w="12700">
            <a:solidFill>
              <a:srgbClr val="1421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6"/>
          <p:cNvSpPr/>
          <p:nvPr/>
        </p:nvSpPr>
        <p:spPr>
          <a:xfrm>
            <a:off x="530352" y="6473952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6"/>
          <p:cNvSpPr/>
          <p:nvPr/>
        </p:nvSpPr>
        <p:spPr>
          <a:xfrm>
            <a:off x="6583680" y="6473952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Cross-cutting exposure as an engine of radicalization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6"/>
          <p:cNvSpPr/>
          <p:nvPr/>
        </p:nvSpPr>
        <p:spPr>
          <a:xfrm>
            <a:off x="530352" y="310896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Takeaways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6"/>
          <p:cNvSpPr/>
          <p:nvPr/>
        </p:nvSpPr>
        <p:spPr>
          <a:xfrm>
            <a:off x="557784" y="832104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central result is kinetic: platform design determines the rate at which repulsion is activated.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16"/>
          <p:cNvCxnSpPr/>
          <p:nvPr/>
        </p:nvCxnSpPr>
        <p:spPr>
          <a:xfrm>
            <a:off x="530352" y="1170432"/>
            <a:ext cx="11109960" cy="0"/>
          </a:xfrm>
          <a:prstGeom prst="straightConnector1">
            <a:avLst/>
          </a:prstGeom>
          <a:noFill/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16"/>
          <p:cNvSpPr/>
          <p:nvPr/>
        </p:nvSpPr>
        <p:spPr>
          <a:xfrm>
            <a:off x="914400" y="1527048"/>
            <a:ext cx="384048" cy="38404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6"/>
          <p:cNvSpPr/>
          <p:nvPr/>
        </p:nvSpPr>
        <p:spPr>
          <a:xfrm>
            <a:off x="1417320" y="1508760"/>
            <a:ext cx="9464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Inversion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6"/>
          <p:cNvSpPr/>
          <p:nvPr/>
        </p:nvSpPr>
        <p:spPr>
          <a:xfrm>
            <a:off x="1417320" y="1828800"/>
            <a:ext cx="9464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70"/>
              <a:buFont typeface="Arial"/>
              <a:buNone/>
            </a:pPr>
            <a:r>
              <a:rPr b="0" i="0" lang="en-US" sz="107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With repulsive influence, neutral exposure can polarize more than homophilic curation.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6"/>
          <p:cNvSpPr/>
          <p:nvPr/>
        </p:nvSpPr>
        <p:spPr>
          <a:xfrm>
            <a:off x="914400" y="2807208"/>
            <a:ext cx="384048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6"/>
          <p:cNvSpPr/>
          <p:nvPr/>
        </p:nvSpPr>
        <p:spPr>
          <a:xfrm>
            <a:off x="1417320" y="2788920"/>
            <a:ext cx="9464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Mechanism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6"/>
          <p:cNvSpPr/>
          <p:nvPr/>
        </p:nvSpPr>
        <p:spPr>
          <a:xfrm>
            <a:off x="1417320" y="3108960"/>
            <a:ext cx="9464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70"/>
              <a:buFont typeface="Arial"/>
              <a:buNone/>
            </a:pPr>
            <a:r>
              <a:rPr b="0" i="0" lang="en-US" sz="107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A platform kernel E(Δ) maps to p(y); the quadrature of 1/[y p(y)] sets the radicalization time.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6"/>
          <p:cNvSpPr/>
          <p:nvPr/>
        </p:nvSpPr>
        <p:spPr>
          <a:xfrm>
            <a:off x="914400" y="4087368"/>
            <a:ext cx="384048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6"/>
          <p:cNvSpPr/>
          <p:nvPr/>
        </p:nvSpPr>
        <p:spPr>
          <a:xfrm>
            <a:off x="1417320" y="4069080"/>
            <a:ext cx="9464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Geography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6"/>
          <p:cNvSpPr/>
          <p:nvPr/>
        </p:nvSpPr>
        <p:spPr>
          <a:xfrm>
            <a:off x="1417320" y="4389120"/>
            <a:ext cx="9464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70"/>
              <a:buFont typeface="Arial"/>
              <a:buNone/>
            </a:pPr>
            <a:r>
              <a:rPr b="0" i="0" lang="en-US" sz="107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Brownian mobility alone does not generate spatial opinion domains; opinion-dependent movement crosses a Péclet threshold.</a:t>
            </a:r>
            <a:endParaRPr b="0" i="0" sz="10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1099240" y="5138945"/>
            <a:ext cx="3200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Final implication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6"/>
          <p:cNvSpPr/>
          <p:nvPr/>
        </p:nvSpPr>
        <p:spPr>
          <a:xfrm>
            <a:off x="1005950" y="5367546"/>
            <a:ext cx="9875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Exposure diversity should be treated as a mechanism-dependent intervention, not a universal remedy.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2026-08-11T21:35:25Z</dcterms:created>
  <dc:creator>Ruben E. Araujo</dc:creator>
</cp:coreProperties>
</file>